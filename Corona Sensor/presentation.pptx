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3" r:id="rId20"/>
    <p:sldId id="27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37" autoAdjust="0"/>
    <p:restoredTop sz="94660"/>
  </p:normalViewPr>
  <p:slideViewPr>
    <p:cSldViewPr>
      <p:cViewPr varScale="1">
        <p:scale>
          <a:sx n="82" d="100"/>
          <a:sy n="82" d="100"/>
        </p:scale>
        <p:origin x="-1459"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1/2/2022</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1D8BD707-D9CF-40AE-B4C6-C98DA3205C09}" type="datetimeFigureOut">
              <a:rPr lang="en-US" smtClean="0"/>
              <a:pPr/>
              <a:t>1/2/2022</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1"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r" defTabSz="914400" rtl="1"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r" defTabSz="914400" rtl="1"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r" defTabSz="914400" rtl="1"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r" defTabSz="914400" rtl="1"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r" defTabSz="914400" rtl="1"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r" defTabSz="914400" rtl="1"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r" defTabSz="914400" rtl="1"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r" defTabSz="914400" rtl="1"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r" defTabSz="914400" rtl="1"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371600"/>
            <a:ext cx="6400800" cy="1066800"/>
          </a:xfrm>
        </p:spPr>
        <p:txBody>
          <a:bodyPr/>
          <a:lstStyle/>
          <a:p>
            <a:r>
              <a:rPr lang="en-US" b="1" i="1" dirty="0"/>
              <a:t>Corona sensor </a:t>
            </a:r>
            <a:endParaRPr lang="ar-EG" b="1" i="1" dirty="0"/>
          </a:p>
        </p:txBody>
      </p:sp>
      <p:sp>
        <p:nvSpPr>
          <p:cNvPr id="3" name="Subtitle 2"/>
          <p:cNvSpPr>
            <a:spLocks noGrp="1"/>
          </p:cNvSpPr>
          <p:nvPr>
            <p:ph type="subTitle" idx="1"/>
          </p:nvPr>
        </p:nvSpPr>
        <p:spPr>
          <a:xfrm>
            <a:off x="1295400" y="3352800"/>
            <a:ext cx="6400800" cy="2362200"/>
          </a:xfrm>
        </p:spPr>
        <p:txBody>
          <a:bodyPr>
            <a:normAutofit/>
          </a:bodyPr>
          <a:lstStyle/>
          <a:p>
            <a:pPr algn="l"/>
            <a:r>
              <a:rPr lang="ar-EG" b="1" i="0" u="sng" dirty="0" smtClean="0">
                <a:solidFill>
                  <a:schemeClr val="tx1"/>
                </a:solidFill>
              </a:rPr>
              <a:t>:</a:t>
            </a:r>
            <a:r>
              <a:rPr lang="en-US" sz="1200" b="1" i="0" u="sng" dirty="0" smtClean="0">
                <a:solidFill>
                  <a:schemeClr val="tx1"/>
                </a:solidFill>
              </a:rPr>
              <a:t>Team members</a:t>
            </a:r>
          </a:p>
          <a:p>
            <a:pPr algn="l"/>
            <a:r>
              <a:rPr lang="ar-EG" sz="1200" i="0" dirty="0" smtClean="0">
                <a:solidFill>
                  <a:schemeClr val="tx1"/>
                </a:solidFill>
              </a:rPr>
              <a:t> </a:t>
            </a:r>
            <a:r>
              <a:rPr lang="en-US" sz="1200" i="0" dirty="0" smtClean="0">
                <a:solidFill>
                  <a:schemeClr val="tx1"/>
                </a:solidFill>
              </a:rPr>
              <a:t>1- </a:t>
            </a:r>
            <a:r>
              <a:rPr lang="en-US" sz="1200" i="0" dirty="0" err="1" smtClean="0">
                <a:solidFill>
                  <a:schemeClr val="tx1"/>
                </a:solidFill>
              </a:rPr>
              <a:t>Alsherif</a:t>
            </a:r>
            <a:r>
              <a:rPr lang="en-US" sz="1200" i="0" dirty="0" smtClean="0">
                <a:solidFill>
                  <a:schemeClr val="tx1"/>
                </a:solidFill>
              </a:rPr>
              <a:t> </a:t>
            </a:r>
            <a:r>
              <a:rPr lang="en-US" sz="1200" i="0" dirty="0" err="1" smtClean="0">
                <a:solidFill>
                  <a:schemeClr val="tx1"/>
                </a:solidFill>
              </a:rPr>
              <a:t>Shaban</a:t>
            </a:r>
            <a:r>
              <a:rPr lang="en-US" sz="1200" i="0" dirty="0" smtClean="0">
                <a:solidFill>
                  <a:schemeClr val="tx1"/>
                </a:solidFill>
              </a:rPr>
              <a:t> </a:t>
            </a:r>
            <a:r>
              <a:rPr lang="en-US" sz="1200" i="0" dirty="0" err="1" smtClean="0">
                <a:solidFill>
                  <a:schemeClr val="tx1"/>
                </a:solidFill>
              </a:rPr>
              <a:t>Abdulmejed</a:t>
            </a:r>
            <a:r>
              <a:rPr lang="en-US" sz="1200" i="0" dirty="0">
                <a:solidFill>
                  <a:schemeClr val="tx1"/>
                </a:solidFill>
              </a:rPr>
              <a:t> </a:t>
            </a:r>
            <a:r>
              <a:rPr lang="en-US" sz="1200" i="0" dirty="0" smtClean="0">
                <a:solidFill>
                  <a:schemeClr val="tx1"/>
                </a:solidFill>
              </a:rPr>
              <a:t>( TEAM LEADER ) </a:t>
            </a:r>
          </a:p>
          <a:p>
            <a:pPr algn="l"/>
            <a:r>
              <a:rPr lang="en-US" sz="1200" i="0" dirty="0" smtClean="0">
                <a:solidFill>
                  <a:schemeClr val="tx1"/>
                </a:solidFill>
              </a:rPr>
              <a:t>2- </a:t>
            </a:r>
            <a:r>
              <a:rPr lang="en-US" sz="1200" i="0" dirty="0" err="1">
                <a:solidFill>
                  <a:schemeClr val="tx1"/>
                </a:solidFill>
              </a:rPr>
              <a:t>Almodather</a:t>
            </a:r>
            <a:r>
              <a:rPr lang="en-US" sz="1200" i="0" dirty="0">
                <a:solidFill>
                  <a:schemeClr val="tx1"/>
                </a:solidFill>
              </a:rPr>
              <a:t> Ibrahim Hassan </a:t>
            </a:r>
          </a:p>
          <a:p>
            <a:pPr algn="l"/>
            <a:r>
              <a:rPr lang="en-US" sz="1200" i="0" dirty="0">
                <a:solidFill>
                  <a:schemeClr val="tx1"/>
                </a:solidFill>
              </a:rPr>
              <a:t>3- Andrew </a:t>
            </a:r>
            <a:r>
              <a:rPr lang="en-US" sz="1200" i="0" dirty="0" err="1">
                <a:solidFill>
                  <a:schemeClr val="tx1"/>
                </a:solidFill>
              </a:rPr>
              <a:t>Ezzat</a:t>
            </a:r>
            <a:r>
              <a:rPr lang="en-US" sz="1200" i="0" dirty="0">
                <a:solidFill>
                  <a:schemeClr val="tx1"/>
                </a:solidFill>
              </a:rPr>
              <a:t> </a:t>
            </a:r>
            <a:r>
              <a:rPr lang="en-US" sz="1200" i="0" dirty="0" err="1">
                <a:solidFill>
                  <a:schemeClr val="tx1"/>
                </a:solidFill>
              </a:rPr>
              <a:t>Daoud</a:t>
            </a:r>
            <a:r>
              <a:rPr lang="en-US" sz="1200" i="0" dirty="0">
                <a:solidFill>
                  <a:schemeClr val="tx1"/>
                </a:solidFill>
              </a:rPr>
              <a:t> </a:t>
            </a:r>
          </a:p>
          <a:p>
            <a:pPr algn="l"/>
            <a:r>
              <a:rPr lang="en-US" sz="1200" i="0" dirty="0">
                <a:solidFill>
                  <a:schemeClr val="tx1"/>
                </a:solidFill>
              </a:rPr>
              <a:t>4- Islam Ahmed </a:t>
            </a:r>
            <a:r>
              <a:rPr lang="en-US" sz="1200" i="0" dirty="0" err="1" smtClean="0">
                <a:solidFill>
                  <a:schemeClr val="tx1"/>
                </a:solidFill>
              </a:rPr>
              <a:t>Saif</a:t>
            </a:r>
            <a:r>
              <a:rPr lang="en-US" sz="1200" i="0" dirty="0" smtClean="0">
                <a:solidFill>
                  <a:schemeClr val="tx1"/>
                </a:solidFill>
              </a:rPr>
              <a:t> Salem  </a:t>
            </a:r>
          </a:p>
          <a:p>
            <a:pPr algn="l"/>
            <a:r>
              <a:rPr lang="en-US" sz="1200" i="0" dirty="0" smtClean="0">
                <a:solidFill>
                  <a:schemeClr val="tx1"/>
                </a:solidFill>
              </a:rPr>
              <a:t>5- Andrew </a:t>
            </a:r>
            <a:r>
              <a:rPr lang="en-US" sz="1200" i="0" dirty="0" err="1" smtClean="0">
                <a:solidFill>
                  <a:schemeClr val="tx1"/>
                </a:solidFill>
              </a:rPr>
              <a:t>samir</a:t>
            </a:r>
            <a:r>
              <a:rPr lang="en-US" sz="1200" i="0" dirty="0" smtClean="0">
                <a:solidFill>
                  <a:schemeClr val="tx1"/>
                </a:solidFill>
              </a:rPr>
              <a:t> </a:t>
            </a:r>
            <a:r>
              <a:rPr lang="en-US" sz="1200" i="0" dirty="0" err="1" smtClean="0">
                <a:solidFill>
                  <a:schemeClr val="tx1"/>
                </a:solidFill>
              </a:rPr>
              <a:t>Bakieet</a:t>
            </a:r>
            <a:r>
              <a:rPr lang="en-US" sz="1200" i="0" dirty="0" smtClean="0">
                <a:solidFill>
                  <a:schemeClr val="tx1"/>
                </a:solidFill>
              </a:rPr>
              <a:t> </a:t>
            </a:r>
            <a:r>
              <a:rPr lang="en-US" sz="1200" i="0" dirty="0" err="1" smtClean="0">
                <a:solidFill>
                  <a:schemeClr val="tx1"/>
                </a:solidFill>
              </a:rPr>
              <a:t>Ghaly</a:t>
            </a:r>
            <a:endParaRPr lang="ar-EG" sz="1200" i="0" dirty="0">
              <a:solidFill>
                <a:schemeClr val="tx1"/>
              </a:solidFill>
            </a:endParaRPr>
          </a:p>
          <a:p>
            <a:pPr algn="l"/>
            <a:r>
              <a:rPr lang="ar-EG" sz="1200" i="0" dirty="0" smtClean="0">
                <a:solidFill>
                  <a:schemeClr val="tx1"/>
                </a:solidFill>
              </a:rPr>
              <a:t> </a:t>
            </a:r>
            <a:r>
              <a:rPr lang="en-US" sz="1200" i="0" dirty="0" smtClean="0">
                <a:solidFill>
                  <a:schemeClr val="tx1"/>
                </a:solidFill>
              </a:rPr>
              <a:t>6- </a:t>
            </a:r>
            <a:r>
              <a:rPr lang="en-US" sz="1200" i="0" dirty="0" err="1" smtClean="0">
                <a:solidFill>
                  <a:schemeClr val="tx1"/>
                </a:solidFill>
              </a:rPr>
              <a:t>Ayman</a:t>
            </a:r>
            <a:r>
              <a:rPr lang="en-US" sz="1200" i="0" dirty="0" smtClean="0">
                <a:solidFill>
                  <a:schemeClr val="tx1"/>
                </a:solidFill>
              </a:rPr>
              <a:t> </a:t>
            </a:r>
            <a:r>
              <a:rPr lang="en-US" sz="1200" i="0" dirty="0">
                <a:solidFill>
                  <a:schemeClr val="tx1"/>
                </a:solidFill>
              </a:rPr>
              <a:t>Osama </a:t>
            </a:r>
            <a:r>
              <a:rPr lang="en-US" sz="1200" i="0" dirty="0" smtClean="0">
                <a:solidFill>
                  <a:schemeClr val="tx1"/>
                </a:solidFill>
              </a:rPr>
              <a:t>Syed</a:t>
            </a:r>
            <a:endParaRPr lang="ar-EG" sz="1200" i="0" dirty="0">
              <a:solidFill>
                <a:schemeClr val="tx1"/>
              </a:solidFill>
            </a:endParaRPr>
          </a:p>
        </p:txBody>
      </p:sp>
    </p:spTree>
    <p:extLst>
      <p:ext uri="{BB962C8B-B14F-4D97-AF65-F5344CB8AC3E}">
        <p14:creationId xmlns:p14="http://schemas.microsoft.com/office/powerpoint/2010/main" val="42027158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1" dirty="0"/>
              <a:t>Project Idea</a:t>
            </a:r>
            <a:endParaRPr lang="ar-EG" b="1" i="1" dirty="0"/>
          </a:p>
        </p:txBody>
      </p:sp>
      <p:sp>
        <p:nvSpPr>
          <p:cNvPr id="3" name="Content Placeholder 2"/>
          <p:cNvSpPr>
            <a:spLocks noGrp="1"/>
          </p:cNvSpPr>
          <p:nvPr>
            <p:ph idx="1"/>
          </p:nvPr>
        </p:nvSpPr>
        <p:spPr>
          <a:xfrm>
            <a:off x="1143000" y="2209800"/>
            <a:ext cx="6705600" cy="3505200"/>
          </a:xfrm>
        </p:spPr>
        <p:txBody>
          <a:bodyPr/>
          <a:lstStyle/>
          <a:p>
            <a:pPr lvl="0" indent="0" algn="l">
              <a:buNone/>
            </a:pPr>
            <a:r>
              <a:rPr lang="en-US" sz="1500" dirty="0">
                <a:solidFill>
                  <a:prstClr val="black"/>
                </a:solidFill>
              </a:rPr>
              <a:t>The Corona virus has crossed the whole world and the medical staff was the most vulnerable, so we came up with this device (corona sensor)</a:t>
            </a:r>
            <a:endParaRPr lang="ar-EG" sz="1500" dirty="0">
              <a:solidFill>
                <a:prstClr val="black"/>
              </a:solidFill>
            </a:endParaRPr>
          </a:p>
          <a:p>
            <a:pPr lvl="0" indent="0" algn="l">
              <a:buNone/>
            </a:pPr>
            <a:r>
              <a:rPr lang="en-US" sz="1500" dirty="0">
                <a:solidFill>
                  <a:prstClr val="black"/>
                </a:solidFill>
              </a:rPr>
              <a:t>This device works to identify the Corona virus, and determine whether there are infections in a place, with an accuracy of up to 95 percent, in just 15 minutes.</a:t>
            </a:r>
          </a:p>
          <a:p>
            <a:pPr lvl="0" indent="0" algn="l">
              <a:buNone/>
            </a:pPr>
            <a:r>
              <a:rPr lang="en-US" sz="1500" dirty="0">
                <a:solidFill>
                  <a:prstClr val="black"/>
                </a:solidFill>
              </a:rPr>
              <a:t>This invention will greatly facilitate people's lives in light of the spread of the epidemic, and not only for hospitals to prevent it</a:t>
            </a:r>
          </a:p>
          <a:p>
            <a:pPr lvl="0" indent="0" algn="l">
              <a:buNone/>
            </a:pPr>
            <a:r>
              <a:rPr lang="en-US" sz="1500" dirty="0">
                <a:solidFill>
                  <a:prstClr val="black"/>
                </a:solidFill>
              </a:rPr>
              <a:t>The spread of "Covid-19".</a:t>
            </a:r>
          </a:p>
          <a:p>
            <a:endParaRPr lang="ar-EG" dirty="0"/>
          </a:p>
        </p:txBody>
      </p:sp>
    </p:spTree>
    <p:extLst>
      <p:ext uri="{BB962C8B-B14F-4D97-AF65-F5344CB8AC3E}">
        <p14:creationId xmlns:p14="http://schemas.microsoft.com/office/powerpoint/2010/main" val="6617285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ar-EG" dirty="0" smtClean="0"/>
              <a:t/>
            </a:r>
            <a:br>
              <a:rPr lang="ar-EG" dirty="0" smtClean="0"/>
            </a:br>
            <a:endParaRPr lang="ar-EG" dirty="0"/>
          </a:p>
        </p:txBody>
      </p:sp>
      <p:sp>
        <p:nvSpPr>
          <p:cNvPr id="3" name="Content Placeholder 2"/>
          <p:cNvSpPr>
            <a:spLocks noGrp="1"/>
          </p:cNvSpPr>
          <p:nvPr>
            <p:ph idx="1"/>
          </p:nvPr>
        </p:nvSpPr>
        <p:spPr>
          <a:xfrm>
            <a:off x="914400" y="990600"/>
            <a:ext cx="7162800" cy="4572000"/>
          </a:xfrm>
        </p:spPr>
        <p:txBody>
          <a:bodyPr>
            <a:normAutofit/>
          </a:bodyPr>
          <a:lstStyle/>
          <a:p>
            <a:pPr indent="0" algn="l">
              <a:buNone/>
            </a:pPr>
            <a:r>
              <a:rPr lang="en-US" dirty="0" smtClean="0"/>
              <a:t>The </a:t>
            </a:r>
            <a:r>
              <a:rPr lang="en-US" dirty="0"/>
              <a:t>device relies on a CT scan of everyone inside the hospital room, thus identifying the affected person at 95 percent. The advantage of this device is that it warns everyone in the place with their eyes in case only one case is detected.</a:t>
            </a:r>
          </a:p>
          <a:p>
            <a:pPr indent="0" algn="l">
              <a:buNone/>
            </a:pPr>
            <a:r>
              <a:rPr lang="en-US" dirty="0"/>
              <a:t>With the device placed in each room inside the hospital or in the required place, it can, within 15 minutes, detect the Corona virus and notify the attendees of the presence of an infected person among them, after which the usual examinations are performed to determine whether the patient is infected or not.</a:t>
            </a:r>
          </a:p>
          <a:p>
            <a:pPr indent="0" algn="l">
              <a:buNone/>
            </a:pPr>
            <a:r>
              <a:rPr lang="en-US" dirty="0"/>
              <a:t>General statement:</a:t>
            </a:r>
            <a:endParaRPr lang="ar-EG" dirty="0"/>
          </a:p>
        </p:txBody>
      </p:sp>
    </p:spTree>
    <p:extLst>
      <p:ext uri="{BB962C8B-B14F-4D97-AF65-F5344CB8AC3E}">
        <p14:creationId xmlns:p14="http://schemas.microsoft.com/office/powerpoint/2010/main" val="22753050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1" dirty="0"/>
              <a:t>Time taken </a:t>
            </a:r>
            <a:r>
              <a:rPr lang="en-US" b="1" i="1" dirty="0" smtClean="0"/>
              <a:t> </a:t>
            </a:r>
            <a:endParaRPr lang="ar-EG" b="1" i="1" dirty="0"/>
          </a:p>
        </p:txBody>
      </p:sp>
      <p:sp>
        <p:nvSpPr>
          <p:cNvPr id="3" name="Content Placeholder 2"/>
          <p:cNvSpPr>
            <a:spLocks noGrp="1"/>
          </p:cNvSpPr>
          <p:nvPr>
            <p:ph idx="1"/>
          </p:nvPr>
        </p:nvSpPr>
        <p:spPr/>
        <p:txBody>
          <a:bodyPr>
            <a:normAutofit/>
          </a:bodyPr>
          <a:lstStyle/>
          <a:p>
            <a:pPr indent="0" algn="l">
              <a:buNone/>
            </a:pPr>
            <a:r>
              <a:rPr lang="en-US" dirty="0"/>
              <a:t>November: We will make the necessary algorithms and flowcharts for the program </a:t>
            </a:r>
          </a:p>
          <a:p>
            <a:pPr indent="0" algn="l">
              <a:buNone/>
            </a:pPr>
            <a:r>
              <a:rPr lang="en-US" dirty="0"/>
              <a:t>February:  We will manufacture the necessary hardware and software for the device. </a:t>
            </a:r>
          </a:p>
          <a:p>
            <a:pPr indent="0" algn="l">
              <a:buNone/>
            </a:pPr>
            <a:r>
              <a:rPr lang="en-US" dirty="0"/>
              <a:t>March: We will test the device and correct errors, if any. </a:t>
            </a:r>
          </a:p>
          <a:p>
            <a:pPr indent="0" algn="l">
              <a:buNone/>
            </a:pPr>
            <a:r>
              <a:rPr lang="en-US" dirty="0"/>
              <a:t>April: We deliver the device to hospitals for use. </a:t>
            </a:r>
            <a:r>
              <a:rPr lang="ar-EG" dirty="0" smtClean="0"/>
              <a:t> </a:t>
            </a:r>
            <a:endParaRPr lang="ar-EG" dirty="0"/>
          </a:p>
        </p:txBody>
      </p:sp>
    </p:spTree>
    <p:extLst>
      <p:ext uri="{BB962C8B-B14F-4D97-AF65-F5344CB8AC3E}">
        <p14:creationId xmlns:p14="http://schemas.microsoft.com/office/powerpoint/2010/main" val="13417237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a:t>General statement </a:t>
            </a:r>
            <a:endParaRPr lang="ar-EG" sz="2000" b="1" i="1" dirty="0"/>
          </a:p>
        </p:txBody>
      </p:sp>
      <p:sp>
        <p:nvSpPr>
          <p:cNvPr id="3" name="Content Placeholder 2"/>
          <p:cNvSpPr>
            <a:spLocks noGrp="1"/>
          </p:cNvSpPr>
          <p:nvPr>
            <p:ph idx="1"/>
          </p:nvPr>
        </p:nvSpPr>
        <p:spPr/>
        <p:txBody>
          <a:bodyPr/>
          <a:lstStyle/>
          <a:p>
            <a:pPr indent="0" algn="l">
              <a:buNone/>
            </a:pPr>
            <a:r>
              <a:rPr lang="en-US" dirty="0"/>
              <a:t>Team1 : They will manufacture the hardware for the device. </a:t>
            </a:r>
          </a:p>
          <a:p>
            <a:pPr indent="0" algn="l">
              <a:buNone/>
            </a:pPr>
            <a:r>
              <a:rPr lang="en-US" dirty="0"/>
              <a:t>Team2 : They will collect information about the symptoms of the corona virus. </a:t>
            </a:r>
          </a:p>
          <a:p>
            <a:pPr indent="0" algn="l">
              <a:buNone/>
            </a:pPr>
            <a:r>
              <a:rPr lang="en-US" dirty="0"/>
              <a:t>Team3 : They will program the software for device. </a:t>
            </a:r>
          </a:p>
          <a:p>
            <a:pPr indent="0" algn="l">
              <a:buNone/>
            </a:pPr>
            <a:r>
              <a:rPr lang="en-US" dirty="0"/>
              <a:t>Team4 : They supervise the project and make sure that it will be delivered on time. </a:t>
            </a:r>
            <a:endParaRPr lang="ar-EG" dirty="0"/>
          </a:p>
        </p:txBody>
      </p:sp>
    </p:spTree>
    <p:extLst>
      <p:ext uri="{BB962C8B-B14F-4D97-AF65-F5344CB8AC3E}">
        <p14:creationId xmlns:p14="http://schemas.microsoft.com/office/powerpoint/2010/main" val="31056614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a:t>project resource </a:t>
            </a:r>
            <a:endParaRPr lang="ar-EG" sz="2000" b="1" i="1" dirty="0"/>
          </a:p>
        </p:txBody>
      </p:sp>
      <p:sp>
        <p:nvSpPr>
          <p:cNvPr id="3" name="Content Placeholder 2"/>
          <p:cNvSpPr>
            <a:spLocks noGrp="1"/>
          </p:cNvSpPr>
          <p:nvPr>
            <p:ph idx="1"/>
          </p:nvPr>
        </p:nvSpPr>
        <p:spPr/>
        <p:txBody>
          <a:bodyPr/>
          <a:lstStyle/>
          <a:p>
            <a:pPr indent="0" algn="l">
              <a:buNone/>
            </a:pPr>
            <a:r>
              <a:rPr lang="en-US" dirty="0"/>
              <a:t>We need 60000 dollars as a budget for the device  </a:t>
            </a:r>
          </a:p>
          <a:p>
            <a:pPr indent="0" algn="l">
              <a:buNone/>
            </a:pPr>
            <a:r>
              <a:rPr lang="en-US" dirty="0"/>
              <a:t>We need it for :- </a:t>
            </a:r>
          </a:p>
          <a:p>
            <a:pPr indent="0" algn="l">
              <a:buNone/>
            </a:pPr>
            <a:r>
              <a:rPr lang="en-US" dirty="0"/>
              <a:t>1- The materials from which it is made </a:t>
            </a:r>
          </a:p>
          <a:p>
            <a:pPr indent="0" algn="l">
              <a:buNone/>
            </a:pPr>
            <a:r>
              <a:rPr lang="en-US" dirty="0"/>
              <a:t>2 - Giving salaries to project workers </a:t>
            </a:r>
          </a:p>
          <a:p>
            <a:pPr indent="0" algn="l">
              <a:buNone/>
            </a:pPr>
            <a:r>
              <a:rPr lang="en-US" dirty="0"/>
              <a:t>3 - making ads for the device </a:t>
            </a:r>
            <a:endParaRPr lang="ar-EG" dirty="0"/>
          </a:p>
        </p:txBody>
      </p:sp>
    </p:spTree>
    <p:extLst>
      <p:ext uri="{BB962C8B-B14F-4D97-AF65-F5344CB8AC3E}">
        <p14:creationId xmlns:p14="http://schemas.microsoft.com/office/powerpoint/2010/main" val="18034910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a:t>High level </a:t>
            </a:r>
            <a:r>
              <a:rPr lang="en-US" sz="2000" b="1" i="1" dirty="0" smtClean="0"/>
              <a:t>risks</a:t>
            </a:r>
            <a:endParaRPr lang="ar-EG" sz="2000" b="1" i="1" u="sng" dirty="0"/>
          </a:p>
        </p:txBody>
      </p:sp>
      <p:sp>
        <p:nvSpPr>
          <p:cNvPr id="3" name="Content Placeholder 2"/>
          <p:cNvSpPr>
            <a:spLocks noGrp="1"/>
          </p:cNvSpPr>
          <p:nvPr>
            <p:ph idx="1"/>
          </p:nvPr>
        </p:nvSpPr>
        <p:spPr/>
        <p:txBody>
          <a:bodyPr/>
          <a:lstStyle/>
          <a:p>
            <a:pPr indent="0" algn="l">
              <a:buNone/>
            </a:pPr>
            <a:r>
              <a:rPr lang="en-US" dirty="0"/>
              <a:t> The device does not recognize the person infected with the virus by 100% </a:t>
            </a:r>
            <a:endParaRPr lang="ar-EG" dirty="0"/>
          </a:p>
        </p:txBody>
      </p:sp>
    </p:spTree>
    <p:extLst>
      <p:ext uri="{BB962C8B-B14F-4D97-AF65-F5344CB8AC3E}">
        <p14:creationId xmlns:p14="http://schemas.microsoft.com/office/powerpoint/2010/main" val="19402064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smtClean="0"/>
              <a:t> </a:t>
            </a:r>
            <a:r>
              <a:rPr lang="en-US" sz="2000" b="1" i="1" dirty="0"/>
              <a:t>Project </a:t>
            </a:r>
            <a:r>
              <a:rPr lang="en-US" sz="2000" b="1" i="1" dirty="0" smtClean="0"/>
              <a:t>Exclusions</a:t>
            </a:r>
            <a:endParaRPr lang="ar-EG" sz="2000" b="1" i="1" dirty="0"/>
          </a:p>
        </p:txBody>
      </p:sp>
      <p:sp>
        <p:nvSpPr>
          <p:cNvPr id="3" name="Content Placeholder 2"/>
          <p:cNvSpPr>
            <a:spLocks noGrp="1"/>
          </p:cNvSpPr>
          <p:nvPr>
            <p:ph idx="1"/>
          </p:nvPr>
        </p:nvSpPr>
        <p:spPr/>
        <p:txBody>
          <a:bodyPr>
            <a:normAutofit/>
          </a:bodyPr>
          <a:lstStyle/>
          <a:p>
            <a:pPr indent="0" algn="l">
              <a:buNone/>
            </a:pPr>
            <a:r>
              <a:rPr lang="en-US" dirty="0"/>
              <a:t>  The device does not give the necessary treatment.   The device does not perform the necessary tests and </a:t>
            </a:r>
          </a:p>
          <a:p>
            <a:pPr indent="0" algn="l">
              <a:buNone/>
            </a:pPr>
            <a:r>
              <a:rPr lang="en-US" dirty="0"/>
              <a:t>analyzes.    The device does not prevent infection.  The device does not detect other viruses.  The device does not identify the injured from a distance of more than 10 meters.  The device does not know how strongly you are affected by the virus.  The device will not have a way to chat or connect with any doctors.  .The device does not recognize if you have diseases similar to the Corona virus </a:t>
            </a:r>
            <a:endParaRPr lang="ar-EG" dirty="0"/>
          </a:p>
        </p:txBody>
      </p:sp>
    </p:spTree>
    <p:extLst>
      <p:ext uri="{BB962C8B-B14F-4D97-AF65-F5344CB8AC3E}">
        <p14:creationId xmlns:p14="http://schemas.microsoft.com/office/powerpoint/2010/main" val="4664889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a:t>Project </a:t>
            </a:r>
            <a:r>
              <a:rPr lang="en-US" sz="2000" b="1" i="1" dirty="0" smtClean="0"/>
              <a:t>Constraints</a:t>
            </a:r>
            <a:endParaRPr lang="ar-EG" sz="2000" b="1" i="1" dirty="0"/>
          </a:p>
        </p:txBody>
      </p:sp>
      <p:sp>
        <p:nvSpPr>
          <p:cNvPr id="3" name="Content Placeholder 2"/>
          <p:cNvSpPr>
            <a:spLocks noGrp="1"/>
          </p:cNvSpPr>
          <p:nvPr>
            <p:ph idx="1"/>
          </p:nvPr>
        </p:nvSpPr>
        <p:spPr/>
        <p:txBody>
          <a:bodyPr>
            <a:normAutofit/>
          </a:bodyPr>
          <a:lstStyle/>
          <a:p>
            <a:pPr indent="0" algn="l">
              <a:buNone/>
            </a:pPr>
            <a:r>
              <a:rPr lang="en-US" dirty="0"/>
              <a:t>1- We have done a detailed work to determine the budget required to complete this project, and we have found that it is 60,000 dollars  </a:t>
            </a:r>
          </a:p>
          <a:p>
            <a:pPr indent="0" algn="l">
              <a:buNone/>
            </a:pPr>
            <a:r>
              <a:rPr lang="en-US" dirty="0"/>
              <a:t>2- After several studies that we carried out to determine the deadline for this project, taking into account the addition of additional time in anticipation of circumstances, we found that the date will be the month of April. </a:t>
            </a:r>
            <a:endParaRPr lang="ar-EG" dirty="0"/>
          </a:p>
        </p:txBody>
      </p:sp>
    </p:spTree>
    <p:extLst>
      <p:ext uri="{BB962C8B-B14F-4D97-AF65-F5344CB8AC3E}">
        <p14:creationId xmlns:p14="http://schemas.microsoft.com/office/powerpoint/2010/main" val="10338813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1800" b="1" i="1" dirty="0"/>
              <a:t>Work Breakdown Structure ( WBS ) </a:t>
            </a:r>
            <a:r>
              <a:rPr lang="en-US" sz="1800" b="1" i="1" dirty="0" smtClean="0"/>
              <a:t> </a:t>
            </a:r>
            <a:endParaRPr lang="ar-EG" sz="1800" b="1" i="1" dirty="0"/>
          </a:p>
        </p:txBody>
      </p:sp>
      <p:sp>
        <p:nvSpPr>
          <p:cNvPr id="3" name="Content Placeholder 2"/>
          <p:cNvSpPr>
            <a:spLocks noGrp="1"/>
          </p:cNvSpPr>
          <p:nvPr>
            <p:ph idx="1"/>
          </p:nvPr>
        </p:nvSpPr>
        <p:spPr>
          <a:xfrm>
            <a:off x="762000" y="1143000"/>
            <a:ext cx="6629400" cy="3657600"/>
          </a:xfrm>
        </p:spPr>
        <p:txBody>
          <a:bodyPr>
            <a:normAutofit fontScale="77500" lnSpcReduction="20000"/>
          </a:bodyPr>
          <a:lstStyle/>
          <a:p>
            <a:pPr indent="0" algn="l">
              <a:buNone/>
            </a:pPr>
            <a:r>
              <a:rPr lang="en-US" dirty="0"/>
              <a:t>(let’s pretend it’s been assigned a project code of 507 in your organization).  507.1 Database </a:t>
            </a:r>
          </a:p>
          <a:p>
            <a:pPr indent="0" algn="l">
              <a:buNone/>
            </a:pPr>
            <a:r>
              <a:rPr lang="en-US" dirty="0"/>
              <a:t>507.2 Network </a:t>
            </a:r>
          </a:p>
          <a:p>
            <a:pPr indent="0" algn="l">
              <a:buNone/>
            </a:pPr>
            <a:r>
              <a:rPr lang="en-US" dirty="0"/>
              <a:t>507.3 software </a:t>
            </a:r>
          </a:p>
          <a:p>
            <a:pPr indent="0" algn="l">
              <a:buNone/>
            </a:pPr>
            <a:r>
              <a:rPr lang="en-US" dirty="0"/>
              <a:t>507.4 Hardware  </a:t>
            </a:r>
          </a:p>
          <a:p>
            <a:pPr indent="0" algn="l">
              <a:buNone/>
            </a:pPr>
            <a:r>
              <a:rPr lang="en-US" dirty="0"/>
              <a:t>* 507.1 </a:t>
            </a:r>
            <a:r>
              <a:rPr lang="en-US" dirty="0" smtClean="0"/>
              <a:t>Database </a:t>
            </a:r>
            <a:endParaRPr lang="en-US" dirty="0"/>
          </a:p>
          <a:p>
            <a:pPr indent="0" algn="l">
              <a:buNone/>
            </a:pPr>
            <a:r>
              <a:rPr lang="en-US" dirty="0"/>
              <a:t>        &gt; 507.1.1 old information about corona virus </a:t>
            </a:r>
          </a:p>
          <a:p>
            <a:pPr indent="0" algn="l">
              <a:buNone/>
            </a:pPr>
            <a:r>
              <a:rPr lang="en-US" dirty="0"/>
              <a:t>        &gt; 507.1.2 new information about the virus is changing rapidly </a:t>
            </a:r>
          </a:p>
          <a:p>
            <a:pPr indent="0" algn="l">
              <a:buNone/>
            </a:pPr>
            <a:r>
              <a:rPr lang="en-US" dirty="0"/>
              <a:t>* 507.2 Network </a:t>
            </a:r>
          </a:p>
          <a:p>
            <a:pPr indent="0" algn="l">
              <a:buNone/>
            </a:pPr>
            <a:r>
              <a:rPr lang="en-US" dirty="0"/>
              <a:t>        &gt; 507.2.1 Router </a:t>
            </a:r>
          </a:p>
          <a:p>
            <a:pPr indent="0" algn="l">
              <a:buNone/>
            </a:pPr>
            <a:r>
              <a:rPr lang="en-US" dirty="0"/>
              <a:t>                + 507.2.1.1 huge cables </a:t>
            </a:r>
          </a:p>
          <a:p>
            <a:pPr indent="0" algn="l">
              <a:buNone/>
            </a:pPr>
            <a:r>
              <a:rPr lang="en-US" dirty="0"/>
              <a:t>                + 507.2.1.2 Server </a:t>
            </a:r>
          </a:p>
          <a:p>
            <a:pPr indent="0" algn="l">
              <a:buNone/>
            </a:pPr>
            <a:r>
              <a:rPr lang="en-US" dirty="0"/>
              <a:t>                + 507.2.1.3 WIFI </a:t>
            </a:r>
          </a:p>
          <a:p>
            <a:pPr indent="0" algn="l">
              <a:buNone/>
            </a:pPr>
            <a:endParaRPr lang="en-US" dirty="0" smtClean="0"/>
          </a:p>
          <a:p>
            <a:pPr indent="0" algn="l">
              <a:buNone/>
            </a:pPr>
            <a:r>
              <a:rPr lang="en-US" dirty="0" smtClean="0"/>
              <a:t> </a:t>
            </a:r>
            <a:endParaRPr lang="ar-EG" dirty="0"/>
          </a:p>
        </p:txBody>
      </p:sp>
    </p:spTree>
    <p:extLst>
      <p:ext uri="{BB962C8B-B14F-4D97-AF65-F5344CB8AC3E}">
        <p14:creationId xmlns:p14="http://schemas.microsoft.com/office/powerpoint/2010/main" val="1181010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ar-EG" dirty="0"/>
          </a:p>
        </p:txBody>
      </p:sp>
      <p:sp>
        <p:nvSpPr>
          <p:cNvPr id="3" name="Content Placeholder 2"/>
          <p:cNvSpPr>
            <a:spLocks noGrp="1"/>
          </p:cNvSpPr>
          <p:nvPr>
            <p:ph idx="1"/>
          </p:nvPr>
        </p:nvSpPr>
        <p:spPr>
          <a:xfrm>
            <a:off x="533400" y="457200"/>
            <a:ext cx="6553200" cy="4343401"/>
          </a:xfrm>
        </p:spPr>
        <p:txBody>
          <a:bodyPr>
            <a:normAutofit fontScale="77500" lnSpcReduction="20000"/>
          </a:bodyPr>
          <a:lstStyle/>
          <a:p>
            <a:pPr indent="0" algn="l">
              <a:buNone/>
            </a:pPr>
            <a:r>
              <a:rPr lang="en-US" dirty="0"/>
              <a:t> &gt;  507.2.2 </a:t>
            </a:r>
            <a:r>
              <a:rPr lang="en-US" dirty="0" smtClean="0"/>
              <a:t>Switch  </a:t>
            </a:r>
            <a:endParaRPr lang="en-US" dirty="0"/>
          </a:p>
          <a:p>
            <a:pPr indent="0" algn="l">
              <a:buNone/>
            </a:pPr>
            <a:r>
              <a:rPr lang="en-US" dirty="0"/>
              <a:t>        &gt; 507.2.3 WAN  </a:t>
            </a:r>
          </a:p>
          <a:p>
            <a:pPr indent="0" algn="l">
              <a:buNone/>
            </a:pPr>
            <a:r>
              <a:rPr lang="en-US" dirty="0"/>
              <a:t>                 + 507.2.3.1 LAN </a:t>
            </a:r>
          </a:p>
          <a:p>
            <a:pPr indent="0" algn="l">
              <a:buNone/>
            </a:pPr>
            <a:r>
              <a:rPr lang="en-US" dirty="0"/>
              <a:t>                         - 507.2.3.1.1 many computers </a:t>
            </a:r>
          </a:p>
          <a:p>
            <a:pPr indent="0" algn="l">
              <a:buNone/>
            </a:pPr>
            <a:r>
              <a:rPr lang="en-US" dirty="0"/>
              <a:t>                         - 507.2.3.1.2 cables </a:t>
            </a:r>
          </a:p>
          <a:p>
            <a:pPr indent="0" algn="l">
              <a:buNone/>
            </a:pPr>
            <a:r>
              <a:rPr lang="en-US" dirty="0"/>
              <a:t> *507.3 software </a:t>
            </a:r>
          </a:p>
          <a:p>
            <a:pPr indent="0" algn="l">
              <a:buNone/>
            </a:pPr>
            <a:r>
              <a:rPr lang="en-US" dirty="0"/>
              <a:t>        &gt; 507.3.1 programmers </a:t>
            </a:r>
          </a:p>
          <a:p>
            <a:pPr indent="0" algn="l">
              <a:buNone/>
            </a:pPr>
            <a:r>
              <a:rPr lang="en-US" dirty="0"/>
              <a:t>        &gt; 507.3.2 A program that performs CT scans for each person </a:t>
            </a:r>
          </a:p>
          <a:p>
            <a:pPr indent="0" algn="l">
              <a:buNone/>
            </a:pPr>
            <a:r>
              <a:rPr lang="en-US" dirty="0"/>
              <a:t>                + 507.3.2.1 Mechanism to determine whether a person is infected or not </a:t>
            </a:r>
          </a:p>
          <a:p>
            <a:pPr indent="0" algn="l">
              <a:buNone/>
            </a:pPr>
            <a:r>
              <a:rPr lang="en-US" dirty="0"/>
              <a:t>        &gt; 507.3.3 A program that determines the number of infected people in the hospital room </a:t>
            </a:r>
          </a:p>
          <a:p>
            <a:pPr indent="0" algn="l">
              <a:buNone/>
            </a:pPr>
            <a:r>
              <a:rPr lang="en-US" dirty="0"/>
              <a:t>* 507.4 Hardware </a:t>
            </a:r>
          </a:p>
          <a:p>
            <a:pPr indent="0" algn="l">
              <a:buNone/>
            </a:pPr>
            <a:r>
              <a:rPr lang="en-US" dirty="0"/>
              <a:t>        &gt; 507.4.1 engineers </a:t>
            </a:r>
          </a:p>
          <a:p>
            <a:pPr indent="0" algn="l">
              <a:buNone/>
            </a:pPr>
            <a:r>
              <a:rPr lang="en-US" dirty="0"/>
              <a:t>        &gt; 507.4.2 Metal </a:t>
            </a:r>
          </a:p>
          <a:p>
            <a:pPr indent="0" algn="l">
              <a:buNone/>
            </a:pPr>
            <a:r>
              <a:rPr lang="en-US" dirty="0"/>
              <a:t>        &gt; 507.4.3  electronic board </a:t>
            </a:r>
          </a:p>
          <a:p>
            <a:pPr indent="0" algn="l">
              <a:buNone/>
            </a:pPr>
            <a:r>
              <a:rPr lang="en-US" dirty="0"/>
              <a:t>        &gt; 507.4.4  glass </a:t>
            </a:r>
          </a:p>
          <a:p>
            <a:pPr indent="0" algn="l">
              <a:buNone/>
            </a:pPr>
            <a:r>
              <a:rPr lang="en-US" dirty="0"/>
              <a:t>        &gt;507.4.5 electrical wires and cables</a:t>
            </a:r>
            <a:endParaRPr lang="ar-EG" dirty="0"/>
          </a:p>
        </p:txBody>
      </p:sp>
    </p:spTree>
    <p:extLst>
      <p:ext uri="{BB962C8B-B14F-4D97-AF65-F5344CB8AC3E}">
        <p14:creationId xmlns:p14="http://schemas.microsoft.com/office/powerpoint/2010/main" val="25081185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a:t>Cost to create the WBS element</a:t>
            </a:r>
            <a:endParaRPr lang="ar-EG" sz="2000" b="1" i="1"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19200" y="1447800"/>
            <a:ext cx="3981796" cy="3054927"/>
          </a:xfrm>
        </p:spPr>
      </p:pic>
    </p:spTree>
    <p:extLst>
      <p:ext uri="{BB962C8B-B14F-4D97-AF65-F5344CB8AC3E}">
        <p14:creationId xmlns:p14="http://schemas.microsoft.com/office/powerpoint/2010/main" val="23932938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smtClean="0"/>
              <a:t>Responsibility Matrix</a:t>
            </a:r>
            <a:endParaRPr lang="ar-EG" sz="2000" b="1" i="1"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09600" y="1219200"/>
            <a:ext cx="5562600" cy="3046615"/>
          </a:xfrm>
        </p:spPr>
      </p:pic>
    </p:spTree>
    <p:extLst>
      <p:ext uri="{BB962C8B-B14F-4D97-AF65-F5344CB8AC3E}">
        <p14:creationId xmlns:p14="http://schemas.microsoft.com/office/powerpoint/2010/main" val="32348284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smtClean="0"/>
              <a:t>Project Network</a:t>
            </a:r>
            <a:endParaRPr lang="ar-EG" sz="2000" b="1" i="1"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2400" y="1066800"/>
            <a:ext cx="7467600" cy="3429000"/>
          </a:xfrm>
        </p:spPr>
      </p:pic>
    </p:spTree>
    <p:extLst>
      <p:ext uri="{BB962C8B-B14F-4D97-AF65-F5344CB8AC3E}">
        <p14:creationId xmlns:p14="http://schemas.microsoft.com/office/powerpoint/2010/main" val="17110703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smtClean="0"/>
              <a:t>RESOURCE</a:t>
            </a:r>
            <a:endParaRPr lang="ar-EG" sz="2000" b="1" i="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914400"/>
            <a:ext cx="5483967" cy="3579812"/>
          </a:xfrm>
        </p:spPr>
      </p:pic>
    </p:spTree>
    <p:extLst>
      <p:ext uri="{BB962C8B-B14F-4D97-AF65-F5344CB8AC3E}">
        <p14:creationId xmlns:p14="http://schemas.microsoft.com/office/powerpoint/2010/main" val="25034069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ar-EG"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19200" y="304800"/>
            <a:ext cx="6781800" cy="4419600"/>
          </a:xfrm>
        </p:spPr>
      </p:pic>
    </p:spTree>
    <p:extLst>
      <p:ext uri="{BB962C8B-B14F-4D97-AF65-F5344CB8AC3E}">
        <p14:creationId xmlns:p14="http://schemas.microsoft.com/office/powerpoint/2010/main" val="26400282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smtClean="0"/>
              <a:t>BUDGET BASLINE</a:t>
            </a:r>
            <a:endParaRPr lang="ar-EG" sz="2000" b="1" i="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990600"/>
            <a:ext cx="7924800" cy="3579812"/>
          </a:xfrm>
        </p:spPr>
      </p:pic>
    </p:spTree>
    <p:extLst>
      <p:ext uri="{BB962C8B-B14F-4D97-AF65-F5344CB8AC3E}">
        <p14:creationId xmlns:p14="http://schemas.microsoft.com/office/powerpoint/2010/main" val="11720577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ar-EG"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47800" y="217257"/>
            <a:ext cx="6172200" cy="4462693"/>
          </a:xfrm>
        </p:spPr>
      </p:pic>
    </p:spTree>
    <p:extLst>
      <p:ext uri="{BB962C8B-B14F-4D97-AF65-F5344CB8AC3E}">
        <p14:creationId xmlns:p14="http://schemas.microsoft.com/office/powerpoint/2010/main" val="642094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i="1" dirty="0" smtClean="0"/>
              <a:t>RISK AND MONITORING</a:t>
            </a:r>
            <a:endParaRPr lang="ar-EG" sz="2000" b="1" i="1" dirty="0"/>
          </a:p>
        </p:txBody>
      </p:sp>
      <p:sp>
        <p:nvSpPr>
          <p:cNvPr id="3" name="Content Placeholder 2"/>
          <p:cNvSpPr>
            <a:spLocks noGrp="1"/>
          </p:cNvSpPr>
          <p:nvPr>
            <p:ph idx="1"/>
          </p:nvPr>
        </p:nvSpPr>
        <p:spPr/>
        <p:txBody>
          <a:bodyPr>
            <a:normAutofit/>
          </a:bodyPr>
          <a:lstStyle/>
          <a:p>
            <a:pPr indent="0" algn="l">
              <a:buNone/>
            </a:pPr>
            <a:r>
              <a:rPr lang="en-US" b="1" dirty="0" smtClean="0"/>
              <a:t>Risk</a:t>
            </a:r>
          </a:p>
          <a:p>
            <a:pPr indent="0" algn="l">
              <a:buNone/>
            </a:pPr>
            <a:r>
              <a:rPr lang="en-US" dirty="0"/>
              <a:t>1- The device does not recognize the person infected with the virus by 100%</a:t>
            </a:r>
          </a:p>
          <a:p>
            <a:pPr indent="0" algn="l">
              <a:buNone/>
            </a:pPr>
            <a:r>
              <a:rPr lang="en-US" dirty="0"/>
              <a:t> 2- The device malfunctions after exposure to an increase in the load, meaning that the device will be exposed to a large number of people beyond its capacity to absorb it at once. In this case, the device will give wrong results or the device will stop </a:t>
            </a:r>
          </a:p>
          <a:p>
            <a:pPr indent="0" algn="l">
              <a:buNone/>
            </a:pPr>
            <a:r>
              <a:rPr lang="en-US" dirty="0"/>
              <a:t>3- Exposure of the device to external factors, which leads to a decrease in its life span or to give wrong results</a:t>
            </a:r>
          </a:p>
          <a:p>
            <a:pPr indent="0" algn="l">
              <a:buNone/>
            </a:pPr>
            <a:endParaRPr lang="ar-EG" dirty="0"/>
          </a:p>
        </p:txBody>
      </p:sp>
    </p:spTree>
    <p:extLst>
      <p:ext uri="{BB962C8B-B14F-4D97-AF65-F5344CB8AC3E}">
        <p14:creationId xmlns:p14="http://schemas.microsoft.com/office/powerpoint/2010/main" val="19326203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ar-EG" dirty="0"/>
          </a:p>
        </p:txBody>
      </p:sp>
      <p:sp>
        <p:nvSpPr>
          <p:cNvPr id="3" name="Content Placeholder 2"/>
          <p:cNvSpPr>
            <a:spLocks noGrp="1"/>
          </p:cNvSpPr>
          <p:nvPr>
            <p:ph idx="1"/>
          </p:nvPr>
        </p:nvSpPr>
        <p:spPr>
          <a:xfrm>
            <a:off x="1143000" y="1295400"/>
            <a:ext cx="6400800" cy="4191000"/>
          </a:xfrm>
        </p:spPr>
        <p:txBody>
          <a:bodyPr>
            <a:normAutofit/>
          </a:bodyPr>
          <a:lstStyle/>
          <a:p>
            <a:pPr indent="0" algn="l">
              <a:buNone/>
            </a:pPr>
            <a:r>
              <a:rPr lang="en-US" b="1" dirty="0" smtClean="0"/>
              <a:t>Monitoring</a:t>
            </a:r>
          </a:p>
          <a:p>
            <a:pPr indent="0" algn="l">
              <a:buNone/>
            </a:pPr>
            <a:r>
              <a:rPr lang="en-US" dirty="0"/>
              <a:t>It includes several areas in the project </a:t>
            </a:r>
            <a:r>
              <a:rPr lang="en-US" dirty="0" smtClean="0"/>
              <a:t>environment</a:t>
            </a:r>
            <a:endParaRPr lang="en-US" dirty="0"/>
          </a:p>
          <a:p>
            <a:pPr indent="0" algn="l">
              <a:buNone/>
            </a:pPr>
            <a:endParaRPr lang="en-US" dirty="0"/>
          </a:p>
          <a:p>
            <a:pPr indent="0" algn="l">
              <a:buNone/>
            </a:pPr>
            <a:r>
              <a:rPr lang="en-US" dirty="0"/>
              <a:t> 1-Measurement: identifying regression through formal and informal reporting</a:t>
            </a:r>
          </a:p>
          <a:p>
            <a:pPr indent="0" algn="l">
              <a:buNone/>
            </a:pPr>
            <a:endParaRPr lang="en-US" dirty="0"/>
          </a:p>
          <a:p>
            <a:pPr indent="0" algn="l">
              <a:buNone/>
            </a:pPr>
            <a:r>
              <a:rPr lang="en-US" dirty="0"/>
              <a:t> 2-Evaluation: It is intended to identify a deviation from a plan</a:t>
            </a:r>
          </a:p>
          <a:p>
            <a:pPr indent="0" algn="l">
              <a:buNone/>
            </a:pPr>
            <a:endParaRPr lang="en-US" dirty="0"/>
          </a:p>
          <a:p>
            <a:pPr indent="0" algn="l">
              <a:buNone/>
            </a:pPr>
            <a:r>
              <a:rPr lang="en-US" dirty="0"/>
              <a:t>3-Correction: It is taking measures to correct deviations</a:t>
            </a:r>
          </a:p>
          <a:p>
            <a:pPr indent="0" algn="l">
              <a:buNone/>
            </a:pPr>
            <a:r>
              <a:rPr lang="en-US" dirty="0"/>
              <a:t> </a:t>
            </a:r>
          </a:p>
          <a:p>
            <a:pPr indent="0" algn="l">
              <a:buNone/>
            </a:pPr>
            <a:endParaRPr lang="en-US" dirty="0"/>
          </a:p>
          <a:p>
            <a:pPr indent="0" algn="l">
              <a:buNone/>
            </a:pPr>
            <a:r>
              <a:rPr lang="en-US" dirty="0" smtClean="0"/>
              <a:t> </a:t>
            </a:r>
            <a:endParaRPr lang="ar-EG" dirty="0"/>
          </a:p>
        </p:txBody>
      </p:sp>
    </p:spTree>
    <p:extLst>
      <p:ext uri="{BB962C8B-B14F-4D97-AF65-F5344CB8AC3E}">
        <p14:creationId xmlns:p14="http://schemas.microsoft.com/office/powerpoint/2010/main" val="182067549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133</TotalTime>
  <Words>900</Words>
  <Application>Microsoft Office PowerPoint</Application>
  <PresentationFormat>On-screen Show (4:3)</PresentationFormat>
  <Paragraphs>97</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Angles</vt:lpstr>
      <vt:lpstr>Corona sensor </vt:lpstr>
      <vt:lpstr>Project Idea</vt:lpstr>
      <vt:lpstr> </vt:lpstr>
      <vt:lpstr>Time taken  </vt:lpstr>
      <vt:lpstr>General statement </vt:lpstr>
      <vt:lpstr>project resource </vt:lpstr>
      <vt:lpstr>High level risks</vt:lpstr>
      <vt:lpstr> Project Exclusions</vt:lpstr>
      <vt:lpstr>Project Constraints</vt:lpstr>
      <vt:lpstr>Work Breakdown Structure ( WBS )  </vt:lpstr>
      <vt:lpstr> </vt:lpstr>
      <vt:lpstr>Cost to create the WBS element</vt:lpstr>
      <vt:lpstr>Responsibility Matrix</vt:lpstr>
      <vt:lpstr>Project Network</vt:lpstr>
      <vt:lpstr>RESOURCE</vt:lpstr>
      <vt:lpstr> </vt:lpstr>
      <vt:lpstr>BUDGET BASLINE</vt:lpstr>
      <vt:lpstr> </vt:lpstr>
      <vt:lpstr>RISK AND MONITORING</vt:lpstr>
      <vt:lpstr>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Corona sensor </dc:title>
  <dc:creator>Andro</dc:creator>
  <cp:lastModifiedBy>Andro</cp:lastModifiedBy>
  <cp:revision>21</cp:revision>
  <dcterms:created xsi:type="dcterms:W3CDTF">2006-08-16T00:00:00Z</dcterms:created>
  <dcterms:modified xsi:type="dcterms:W3CDTF">2022-01-02T13:38:59Z</dcterms:modified>
</cp:coreProperties>
</file>